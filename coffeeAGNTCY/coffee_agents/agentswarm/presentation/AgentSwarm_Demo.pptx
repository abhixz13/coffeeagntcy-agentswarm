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2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CiscoSansTT" panose="020B0503020201020303" pitchFamily="34" charset="0"/>
      <p:regular r:id="rId29"/>
      <p:bold r:id="rId30"/>
      <p:italic r:id="rId31"/>
      <p:boldItalic r:id="rId32"/>
    </p:embeddedFont>
    <p:embeddedFont>
      <p:font typeface="CiscoSansTT Medium" panose="020B0903020201020303" pitchFamily="34" charset="0"/>
      <p:regular r:id="rId33"/>
      <p: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Overview" id="{5C5C5A04-3B4F-46A7-98EA-FAD3CC0CE88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Opening Slides" id="{6B5BE202-19CA-474B-817E-1B720625FA32}">
          <p14:sldIdLst/>
        </p14:section>
        <p14:section name="Segues &amp; Sections" id="{2B563D00-2FBF-435C-B50A-EEB47C8F3C18}">
          <p14:sldIdLst/>
        </p14:section>
        <p14:section name="Specialty Slides" id="{B91BAC9C-0BFA-4018-ADEF-F561B87D5690}">
          <p14:sldIdLst/>
        </p14:section>
        <p14:section name="Image Layouts" id="{4B93AD70-97D8-4168-BC8C-1DC7738C5912}">
          <p14:sldIdLst/>
        </p14:section>
        <p14:section name="Standard Layouts" id="{215EA447-BC49-414D-B95B-07E9CEBA94EC}">
          <p14:sldIdLst/>
        </p14:section>
        <p14:section name="Section Layouts" id="{8DC34D38-B060-4125-8324-A3F11FD5E484}">
          <p14:sldIdLst/>
        </p14:section>
        <p14:section name="Charts and Tables" id="{E24F7968-37D8-415F-B9BA-53D0F9C78D5F}">
          <p14:sldIdLst/>
        </p14:section>
        <p14:section name="Closing" id="{B139BF10-315B-4780-A8A1-1F17D5CB2565}">
          <p14:sldIdLst/>
        </p14:section>
        <p14:section name="Template usage guidance" id="{9D1D5DA2-5D71-4849-9F69-D112782DB053}">
          <p14:sldIdLst/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DE2"/>
    <a:srgbClr val="EB4651"/>
    <a:srgbClr val="45991F"/>
    <a:srgbClr val="B4B9C0"/>
    <a:srgbClr val="525E6C"/>
    <a:srgbClr val="6B6B6B"/>
    <a:srgbClr val="D6D6D6"/>
    <a:srgbClr val="FF9000"/>
    <a:srgbClr val="FF007F"/>
    <a:srgbClr val="0A6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CC8726-CC69-4FD2-8485-629B6B815A5E}" v="25" dt="2025-05-21T16:26:59.7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27" autoAdjust="0"/>
  </p:normalViewPr>
  <p:slideViewPr>
    <p:cSldViewPr snapToGrid="0" showGuides="1">
      <p:cViewPr varScale="1">
        <p:scale>
          <a:sx n="161" d="100"/>
          <a:sy n="161" d="100"/>
        </p:scale>
        <p:origin x="232" y="1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7428"/>
    </p:cViewPr>
  </p:sorterViewPr>
  <p:notesViewPr>
    <p:cSldViewPr snapToGrid="0">
      <p:cViewPr varScale="1">
        <p:scale>
          <a:sx n="119" d="100"/>
          <a:sy n="119" d="100"/>
        </p:scale>
        <p:origin x="4992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2104B-A22A-485F-8181-8B2CD583353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B4990-0A23-4A10-BE7D-7E64CAB8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2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07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8293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493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2703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220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6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74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0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5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4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94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0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6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2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14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8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5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4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1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6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28016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5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4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7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4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5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1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1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9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2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0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4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774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85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2025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 userDrawn="1"/>
        </p:nvPicPr>
        <p:blipFill>
          <a:blip r:embed="rId5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1059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67" r:id="rId20"/>
    <p:sldLayoutId id="2147483868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48" r:id="rId38"/>
    <p:sldLayoutId id="2147483849" r:id="rId39"/>
    <p:sldLayoutId id="2147483850" r:id="rId40"/>
    <p:sldLayoutId id="2147483851" r:id="rId41"/>
    <p:sldLayoutId id="2147483852" r:id="rId42"/>
    <p:sldLayoutId id="2147483853" r:id="rId43"/>
    <p:sldLayoutId id="2147483854" r:id="rId44"/>
    <p:sldLayoutId id="2147483855" r:id="rId45"/>
    <p:sldLayoutId id="2147483856" r:id="rId46"/>
    <p:sldLayoutId id="2147483857" r:id="rId47"/>
    <p:sldLayoutId id="2147483858" r:id="rId48"/>
    <p:sldLayoutId id="2147483859" r:id="rId49"/>
    <p:sldLayoutId id="2147483860" r:id="rId50"/>
    <p:sldLayoutId id="2147483861" r:id="rId51"/>
    <p:sldLayoutId id="2147483862" r:id="rId52"/>
    <p:sldLayoutId id="2147483863" r:id="rId53"/>
    <p:sldLayoutId id="2147483864" r:id="rId54"/>
    <p:sldLayoutId id="2147483865" r:id="rId55"/>
    <p:sldLayoutId id="2147483866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 userDrawn="1">
          <p15:clr>
            <a:srgbClr val="F26B43"/>
          </p15:clr>
        </p15:guide>
        <p15:guide id="3" pos="7476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9" orient="horz" pos="3827" userDrawn="1">
          <p15:clr>
            <a:srgbClr val="9FCC3B"/>
          </p15:clr>
        </p15:guide>
        <p15:guide id="10" orient="horz" pos="202" userDrawn="1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 userDrawn="1">
          <p15:clr>
            <a:srgbClr val="A4A3A4"/>
          </p15:clr>
        </p15:guide>
        <p15:guide id="13" orient="horz" pos="2552" userDrawn="1">
          <p15:clr>
            <a:srgbClr val="A4A3A4"/>
          </p15:clr>
        </p15:guide>
        <p15:guide id="14" orient="horz" pos="600" userDrawn="1">
          <p15:clr>
            <a:srgbClr val="A4A3A4"/>
          </p15:clr>
        </p15:guide>
        <p15:guide id="15" orient="horz" pos="1766" userDrawn="1">
          <p15:clr>
            <a:srgbClr val="A4A3A4"/>
          </p15:clr>
        </p15:guide>
        <p15:guide id="16" orient="horz" pos="2355" userDrawn="1">
          <p15:clr>
            <a:srgbClr val="A4A3A4"/>
          </p15:clr>
        </p15:guide>
        <p15:guide id="18" orient="horz" pos="4118" userDrawn="1">
          <p15:clr>
            <a:srgbClr val="F26B43"/>
          </p15:clr>
        </p15:guide>
        <p15:guide id="19" orient="horz" pos="1178" userDrawn="1">
          <p15:clr>
            <a:srgbClr val="A4A3A4"/>
          </p15:clr>
        </p15:guide>
        <p15:guide id="20" orient="horz" pos="1374" userDrawn="1">
          <p15:clr>
            <a:srgbClr val="A4A3A4"/>
          </p15:clr>
        </p15:guide>
        <p15:guide id="21" orient="horz" pos="1570" userDrawn="1">
          <p15:clr>
            <a:srgbClr val="A4A3A4"/>
          </p15:clr>
        </p15:guide>
        <p15:guide id="22" pos="703" userDrawn="1">
          <p15:clr>
            <a:srgbClr val="A4A3A4"/>
          </p15:clr>
        </p15:guide>
        <p15:guide id="23" pos="820" userDrawn="1">
          <p15:clr>
            <a:srgbClr val="A4A3A4"/>
          </p15:clr>
        </p15:guide>
        <p15:guide id="24" pos="1321" userDrawn="1">
          <p15:clr>
            <a:srgbClr val="A4A3A4"/>
          </p15:clr>
        </p15:guide>
        <p15:guide id="25" pos="1435" userDrawn="1">
          <p15:clr>
            <a:srgbClr val="A4A3A4"/>
          </p15:clr>
        </p15:guide>
        <p15:guide id="26" pos="1936" userDrawn="1">
          <p15:clr>
            <a:srgbClr val="A4A3A4"/>
          </p15:clr>
        </p15:guide>
        <p15:guide id="27" pos="2051" userDrawn="1">
          <p15:clr>
            <a:srgbClr val="A4A3A4"/>
          </p15:clr>
        </p15:guide>
        <p15:guide id="28" pos="2551" userDrawn="1">
          <p15:clr>
            <a:srgbClr val="A4A3A4"/>
          </p15:clr>
        </p15:guide>
        <p15:guide id="29" pos="2665" userDrawn="1">
          <p15:clr>
            <a:srgbClr val="A4A3A4"/>
          </p15:clr>
        </p15:guide>
        <p15:guide id="30" pos="3167" userDrawn="1">
          <p15:clr>
            <a:srgbClr val="A4A3A4"/>
          </p15:clr>
        </p15:guide>
        <p15:guide id="31" pos="3281" userDrawn="1">
          <p15:clr>
            <a:srgbClr val="A4A3A4"/>
          </p15:clr>
        </p15:guide>
        <p15:guide id="32" pos="3783" userDrawn="1">
          <p15:clr>
            <a:srgbClr val="A4A3A4"/>
          </p15:clr>
        </p15:guide>
        <p15:guide id="33" pos="3896" userDrawn="1">
          <p15:clr>
            <a:srgbClr val="A4A3A4"/>
          </p15:clr>
        </p15:guide>
        <p15:guide id="34" pos="4397" userDrawn="1">
          <p15:clr>
            <a:srgbClr val="A4A3A4"/>
          </p15:clr>
        </p15:guide>
        <p15:guide id="35" pos="4512" userDrawn="1">
          <p15:clr>
            <a:srgbClr val="A4A3A4"/>
          </p15:clr>
        </p15:guide>
        <p15:guide id="36" pos="5013" userDrawn="1">
          <p15:clr>
            <a:srgbClr val="A4A3A4"/>
          </p15:clr>
        </p15:guide>
        <p15:guide id="37" pos="5128" userDrawn="1">
          <p15:clr>
            <a:srgbClr val="A4A3A4"/>
          </p15:clr>
        </p15:guide>
        <p15:guide id="38" pos="5629" userDrawn="1">
          <p15:clr>
            <a:srgbClr val="A4A3A4"/>
          </p15:clr>
        </p15:guide>
        <p15:guide id="39" pos="5742" userDrawn="1">
          <p15:clr>
            <a:srgbClr val="A4A3A4"/>
          </p15:clr>
        </p15:guide>
        <p15:guide id="40" pos="6244" userDrawn="1">
          <p15:clr>
            <a:srgbClr val="A4A3A4"/>
          </p15:clr>
        </p15:guide>
        <p15:guide id="41" pos="6359" userDrawn="1">
          <p15:clr>
            <a:srgbClr val="A4A3A4"/>
          </p15:clr>
        </p15:guide>
        <p15:guide id="42" pos="6859" userDrawn="1">
          <p15:clr>
            <a:srgbClr val="A4A3A4"/>
          </p15:clr>
        </p15:guide>
        <p15:guide id="43" pos="6975" userDrawn="1">
          <p15:clr>
            <a:srgbClr val="A4A3A4"/>
          </p15:clr>
        </p15:guide>
        <p15:guide id="44" orient="horz" pos="784" userDrawn="1">
          <p15:clr>
            <a:srgbClr val="A4A3A4"/>
          </p15:clr>
        </p15:guide>
        <p15:guide id="45" orient="horz" pos="980" userDrawn="1">
          <p15:clr>
            <a:srgbClr val="A4A3A4"/>
          </p15:clr>
        </p15:guide>
        <p15:guide id="46" orient="horz" pos="1962" userDrawn="1">
          <p15:clr>
            <a:srgbClr val="A4A3A4"/>
          </p15:clr>
        </p15:guide>
        <p15:guide id="47" orient="horz" pos="2747" userDrawn="1">
          <p15:clr>
            <a:srgbClr val="A4A3A4"/>
          </p15:clr>
        </p15:guide>
        <p15:guide id="48" orient="horz" pos="2945" userDrawn="1">
          <p15:clr>
            <a:srgbClr val="A4A3A4"/>
          </p15:clr>
        </p15:guide>
        <p15:guide id="49" orient="horz" pos="3141" userDrawn="1">
          <p15:clr>
            <a:srgbClr val="A4A3A4"/>
          </p15:clr>
        </p15:guide>
        <p15:guide id="50" orient="horz" pos="3337" userDrawn="1">
          <p15:clr>
            <a:srgbClr val="A4A3A4"/>
          </p15:clr>
        </p15:guide>
        <p15:guide id="51" orient="horz" pos="3535" userDrawn="1">
          <p15:clr>
            <a:srgbClr val="A4A3A4"/>
          </p15:clr>
        </p15:guide>
        <p15:guide id="52" orient="horz" pos="3730" userDrawn="1">
          <p15:clr>
            <a:srgbClr val="A4A3A4"/>
          </p15:clr>
        </p15:guide>
        <p15:guide id="53" orient="horz" pos="3936" userDrawn="1">
          <p15:clr>
            <a:srgbClr val="A4A3A4"/>
          </p15:clr>
        </p15:guide>
        <p15:guide id="54" orient="horz" pos="187" userDrawn="1">
          <p15:clr>
            <a:srgbClr val="9FCC3B"/>
          </p15:clr>
        </p15:guide>
        <p15:guide id="55" pos="455" userDrawn="1">
          <p15:clr>
            <a:srgbClr val="9FCC3B"/>
          </p15:clr>
        </p15:guide>
        <p15:guide id="56" pos="1069" userDrawn="1">
          <p15:clr>
            <a:srgbClr val="9FCC3B"/>
          </p15:clr>
        </p15:guide>
        <p15:guide id="57" pos="1685" userDrawn="1">
          <p15:clr>
            <a:srgbClr val="9FCC3B"/>
          </p15:clr>
        </p15:guide>
        <p15:guide id="58" pos="2301" userDrawn="1">
          <p15:clr>
            <a:srgbClr val="9FCC3B"/>
          </p15:clr>
        </p15:guide>
        <p15:guide id="59" pos="2915" userDrawn="1">
          <p15:clr>
            <a:srgbClr val="9FCC3B"/>
          </p15:clr>
        </p15:guide>
        <p15:guide id="60" pos="3531" userDrawn="1">
          <p15:clr>
            <a:srgbClr val="9FCC3B"/>
          </p15:clr>
        </p15:guide>
        <p15:guide id="61" pos="4146" userDrawn="1">
          <p15:clr>
            <a:srgbClr val="9FCC3B"/>
          </p15:clr>
        </p15:guide>
        <p15:guide id="62" pos="4762" userDrawn="1">
          <p15:clr>
            <a:srgbClr val="9FCC3B"/>
          </p15:clr>
        </p15:guide>
        <p15:guide id="63" pos="5378" userDrawn="1">
          <p15:clr>
            <a:srgbClr val="9FCC3B"/>
          </p15:clr>
        </p15:guide>
        <p15:guide id="64" pos="5992" userDrawn="1">
          <p15:clr>
            <a:srgbClr val="9FCC3B"/>
          </p15:clr>
        </p15:guide>
        <p15:guide id="65" pos="6609" userDrawn="1">
          <p15:clr>
            <a:srgbClr val="9FCC3B"/>
          </p15:clr>
        </p15:guide>
        <p15:guide id="66" pos="7225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AgentSwarm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t>Multi-Agent AI System for Webex Contact Center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sz="1400">
                <a:solidFill>
                  <a:srgbClr val="FFFFFF"/>
                </a:solidFill>
                <a:latin typeface="+mn-lt"/>
              </a:rPr>
              <a:t>Raghu Guvvala</a:t>
            </a:r>
          </a:p>
          <a:p>
            <a:r>
              <a:rPr sz="1400">
                <a:solidFill>
                  <a:srgbClr val="B4B4B4"/>
                </a:solidFill>
                <a:latin typeface="+mn-lt"/>
              </a:rPr>
              <a:t>Cisco PlayTime Hackathon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1400">
                <a:solidFill>
                  <a:srgbClr val="FFFFFF"/>
                </a:solidFill>
                <a:latin typeface="+mn-lt"/>
              </a:rPr>
              <a:t>AgentSwarm Team</a:t>
            </a:r>
          </a:p>
          <a:p>
            <a:r>
              <a:rPr sz="1400">
                <a:solidFill>
                  <a:srgbClr val="B4B4B4"/>
                </a:solidFill>
                <a:latin typeface="+mn-lt"/>
              </a:rPr>
              <a:t>Multi-Agent AI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200">
                <a:solidFill>
                  <a:srgbClr val="FFFFFF"/>
                </a:solidFill>
                <a:latin typeface="+mn-lt"/>
              </a:rP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2441324" y="1885032"/>
            <a:ext cx="706595" cy="365125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sz="3200">
                <a:solidFill>
                  <a:schemeClr val="tx2"/>
                </a:solidFill>
                <a:latin typeface="CiscoSansTT Medium"/>
              </a:rP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417636" y="1885032"/>
            <a:ext cx="7289947" cy="365125"/>
          </a:xfrm>
        </p:spPr>
        <p:txBody>
          <a:bodyPr>
            <a:normAutofit fontScale="85000" lnSpcReduction="10000"/>
          </a:bodyPr>
          <a:lstStyle/>
          <a:p>
            <a:r>
              <a:rPr sz="3200" dirty="0">
                <a:solidFill>
                  <a:srgbClr val="FFFFFF"/>
                </a:solidFill>
                <a:latin typeface="CiscoSansTT Medium"/>
              </a:rPr>
              <a:t>The Problem: Contact Center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323" y="2507141"/>
            <a:ext cx="70608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>
                <a:solidFill>
                  <a:schemeClr val="tx2"/>
                </a:solidFill>
                <a:latin typeface="CiscoSansTT Medium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7636" y="2507141"/>
            <a:ext cx="7289621" cy="364845"/>
          </a:xfrm>
          <a:prstGeom prst="rect">
            <a:avLst/>
          </a:prstGeom>
          <a:noFill/>
        </p:spPr>
        <p:txBody>
          <a:bodyPr wrap="none" lIns="0" tIns="0" rIns="0" bIns="0">
            <a:normAutofit fontScale="85000" lnSpcReduction="20000"/>
          </a:bodyPr>
          <a:lstStyle/>
          <a:p>
            <a:r>
              <a:rPr sz="3200">
                <a:solidFill>
                  <a:srgbClr val="FFFFFF"/>
                </a:solidFill>
                <a:latin typeface="CiscoSansTT Medium"/>
              </a:rPr>
              <a:t>The Solution: AgentSwarm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1323" y="3128933"/>
            <a:ext cx="70608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>
                <a:solidFill>
                  <a:schemeClr val="tx2"/>
                </a:solidFill>
                <a:latin typeface="CiscoSansTT Medium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7636" y="3128933"/>
            <a:ext cx="7289621" cy="364845"/>
          </a:xfrm>
          <a:prstGeom prst="rect">
            <a:avLst/>
          </a:prstGeom>
          <a:noFill/>
        </p:spPr>
        <p:txBody>
          <a:bodyPr wrap="none" lIns="0" tIns="0" rIns="0" bIns="0">
            <a:normAutofit fontScale="85000" lnSpcReduction="20000"/>
          </a:bodyPr>
          <a:lstStyle/>
          <a:p>
            <a:r>
              <a:rPr sz="3200">
                <a:solidFill>
                  <a:srgbClr val="FFFFFF"/>
                </a:solidFill>
                <a:latin typeface="CiscoSansTT Medium"/>
              </a:rPr>
              <a:t>Key Technologies: AGNTCY, LangGraph, A2A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323" y="3750725"/>
            <a:ext cx="70608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>
                <a:solidFill>
                  <a:schemeClr val="tx2"/>
                </a:solidFill>
                <a:latin typeface="CiscoSansTT Medium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7636" y="3750725"/>
            <a:ext cx="7289621" cy="364845"/>
          </a:xfrm>
          <a:prstGeom prst="rect">
            <a:avLst/>
          </a:prstGeom>
          <a:noFill/>
        </p:spPr>
        <p:txBody>
          <a:bodyPr wrap="none" lIns="0" tIns="0" rIns="0" bIns="0">
            <a:normAutofit fontScale="85000" lnSpcReduction="20000"/>
          </a:bodyPr>
          <a:lstStyle/>
          <a:p>
            <a:r>
              <a:rPr sz="3200">
                <a:solidFill>
                  <a:srgbClr val="FFFFFF"/>
                </a:solidFill>
                <a:latin typeface="CiscoSansTT Medium"/>
              </a:rPr>
              <a:t>Live Demo &amp; 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323" y="4372517"/>
            <a:ext cx="70608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>
                <a:solidFill>
                  <a:schemeClr val="tx2"/>
                </a:solidFill>
                <a:latin typeface="CiscoSansTT Medium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7636" y="4372517"/>
            <a:ext cx="7289621" cy="364845"/>
          </a:xfrm>
          <a:prstGeom prst="rect">
            <a:avLst/>
          </a:prstGeom>
          <a:noFill/>
        </p:spPr>
        <p:txBody>
          <a:bodyPr wrap="none" lIns="0" tIns="0" rIns="0" bIns="0">
            <a:normAutofit fontScale="85000" lnSpcReduction="20000"/>
          </a:bodyPr>
          <a:lstStyle/>
          <a:p>
            <a:r>
              <a:rPr sz="3200">
                <a:solidFill>
                  <a:srgbClr val="FFFFFF"/>
                </a:solidFill>
                <a:latin typeface="CiscoSansTT Medium"/>
              </a:rPr>
              <a:t>Business Impact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Center Challenges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0784" y="2377440"/>
            <a:ext cx="39044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/>
              <a:t>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84" y="2734056"/>
            <a:ext cx="390448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Long Wait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00400"/>
            <a:ext cx="3904487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FFFFFF"/>
                </a:solidFill>
                <a:latin typeface="+mn-lt"/>
              </a:rPr>
              <a:t>Customers frustrated with delays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Average hold time: 10+ minutes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Agents overwhelmed with queries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Peak hour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377440"/>
            <a:ext cx="39044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/>
              <a:t>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734056"/>
            <a:ext cx="390448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Repetitive Transfers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00400"/>
            <a:ext cx="3904487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FFFFFF"/>
                </a:solidFill>
                <a:latin typeface="+mn-lt"/>
              </a:rPr>
              <a:t>Customers repeat their issue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Multiple department handoffs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Lost context between agents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Decreased satisfaction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Traditional Chatbots Fail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pPr>
              <a:buNone/>
            </a:pPr>
            <a:r>
              <a:rPr sz="2000" b="1">
                <a:solidFill>
                  <a:srgbClr val="FFFFFF"/>
                </a:solidFill>
                <a:latin typeface="+mn-lt"/>
              </a:rPr>
              <a:t>Single-Agent Limitations</a:t>
            </a:r>
          </a:p>
          <a:p>
            <a:pPr>
              <a:buNone/>
            </a:pPr>
            <a:r>
              <a:t>Traditional AI assistants lack specialization and collaboration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One model tries to do everything - mediocre at everything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No domain expertise for CRM, ticketing, escalation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Cannot reason across multiple systems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No visibility into decision-making process</a:t>
            </a:r>
          </a:p>
          <a:p>
            <a:pPr lvl="2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Black box AI - no trust</a:t>
            </a:r>
          </a:p>
          <a:p>
            <a:pPr lvl="2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No audit trail for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AgentSwarm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6459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+mn-lt"/>
              </a:rPr>
              <a:t>A collaborative team of AI specialists working together, just like a real contact center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  <a:latin typeface="+mn-lt"/>
              </a:rPr>
              <a:t>AgentSwarm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020824"/>
            <a:ext cx="4306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Orchestrator (Supervisor)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2560320"/>
            <a:ext cx="4306824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FFFFFF"/>
                </a:solidFill>
                <a:latin typeface="+mn-lt"/>
              </a:rPr>
              <a:t>The intelligent coordinator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Analyzes customer intent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Routes to specialist agents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Aggregates responses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Synthesizes unified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020824"/>
            <a:ext cx="4306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Specialist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560320"/>
            <a:ext cx="4306824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FFFFFF"/>
                </a:solidFill>
                <a:latin typeface="+mn-lt"/>
              </a:rPr>
              <a:t>Domain experts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CRM Agent: Customer data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Knowledge Agent: FAQs &amp; docs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Ticket Agent: Case management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Escalation Agent: Routing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Specialist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828800"/>
            <a:ext cx="2468880" cy="320040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+mn-lt"/>
              </a:rPr>
              <a:t>CRM Agent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Customer lookup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Account history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47288" y="1828800"/>
            <a:ext cx="2468880" cy="320040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+mn-lt"/>
              </a:rPr>
              <a:t>Knowledge Agent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FAQs &amp; docs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Troubleshooting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828800"/>
            <a:ext cx="2468880" cy="320040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+mn-lt"/>
              </a:rPr>
              <a:t>Ticket Agent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Case creation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Priority setting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16568" y="1828800"/>
            <a:ext cx="2468880" cy="320040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+mn-lt"/>
              </a:rPr>
              <a:t>Escalation Agent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Urgency routing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Team assignment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Agents Collaborate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pPr>
              <a:buNone/>
            </a:pPr>
            <a:r>
              <a:rPr sz="2000" b="1">
                <a:solidFill>
                  <a:srgbClr val="FFFFFF"/>
                </a:solidFill>
                <a:latin typeface="+mn-lt"/>
              </a:rPr>
              <a:t>Sequential Multi-Agent Workflow</a:t>
            </a:r>
          </a:p>
          <a:p>
            <a:pPr>
              <a:buNone/>
            </a:pPr>
            <a:r>
              <a:t>Agents consult each other and pass context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Step 1: Supervisor analyzes query - identifies required agents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Step 2: CRM Agent retrieves customer profile &amp; history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Step 3: Knowledge Agent finds relevant documentation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Step 4: Ticket Agent creates/updates support case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Step 5: Escalation Agent assesses urgency &amp; routes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Step 6: Aggregator synthesizes unified response</a:t>
            </a:r>
          </a:p>
          <a:p>
            <a:pPr lvl="2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Each agent adds context for the next</a:t>
            </a:r>
          </a:p>
          <a:p>
            <a:pPr lvl="2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Full execution trace captured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gradFill flip="none" rotWithShape="1">
                  <a:gsLst>
                    <a:gs pos="0">
                      <a:srgbClr val="02C8FF"/>
                    </a:gs>
                    <a:gs pos="100000">
                      <a:srgbClr val="0A60FF"/>
                    </a:gs>
                  </a:gsLst>
                  <a:lin ang="2700000" scaled="1"/>
                  <a:tileRect/>
                </a:gradFill>
              </a:rPr>
              <a:t>Key Technologies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AGNTCY Framework (Cisco Outshift)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020824"/>
            <a:ext cx="4306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A2A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2560320"/>
            <a:ext cx="4306824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FFFFFF"/>
                </a:solidFill>
                <a:latin typeface="+mn-lt"/>
              </a:rPr>
              <a:t>Agent-to-Agent communication standard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AgentCard: JSON manifest of capabilities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Standardized message format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Task protocol for async operations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Vendor-agnostic interoperability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020824"/>
            <a:ext cx="4306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Observability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560320"/>
            <a:ext cx="4306824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FFFFFF"/>
                </a:solidFill>
                <a:latin typeface="+mn-lt"/>
              </a:rPr>
              <a:t>Built-in distributed tracing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@agent, @graph, @tool decorators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Session management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OpenTelemetry integration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Jaeger trace visualization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LangGraph: State Machine Workflows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pPr>
              <a:buNone/>
            </a:pPr>
            <a:r>
              <a:rPr sz="2000" b="1">
                <a:solidFill>
                  <a:srgbClr val="FFFFFF"/>
                </a:solidFill>
                <a:latin typeface="+mn-lt"/>
              </a:rPr>
              <a:t>Why LangGraph?</a:t>
            </a:r>
          </a:p>
          <a:p>
            <a:pPr>
              <a:buNone/>
            </a:pPr>
            <a:r>
              <a:t>Intelligent workflow orchestration beyond simple if/else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Graph-based workflow definition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LLM-powered conditional routing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Shared state across nodes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Visual debugging of agent paths</a:t>
            </a:r>
          </a:p>
          <a:p>
            <a:pPr lvl="2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Nodes = Processing steps (agents)</a:t>
            </a:r>
          </a:p>
          <a:p>
            <a:pPr lvl="2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Edges = Transitions (conditions)</a:t>
            </a:r>
          </a:p>
          <a:p>
            <a:pPr lvl="2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State = Conversation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vs Traditional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0784" y="2496312"/>
            <a:ext cx="4306824" cy="242316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+mn-lt"/>
              </a:rPr>
              <a:t>Traditional If/Else</a:t>
            </a:r>
          </a:p>
          <a:p>
            <a:endParaRPr sz="1600" b="1">
              <a:solidFill>
                <a:srgbClr val="FFFFFF"/>
              </a:solidFill>
              <a:latin typeface="+mn-lt"/>
            </a:endParaRPr>
          </a:p>
          <a:p>
            <a:pPr algn="l"/>
            <a:r>
              <a:rPr sz="1400">
                <a:solidFill>
                  <a:srgbClr val="FFFFFF"/>
                </a:solidFill>
                <a:latin typeface="+mn-lt"/>
              </a:rPr>
              <a:t>Rigid, hard-coded rules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if 'password' in query -&gt; FAQ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Brittle keyword matching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Cannot handle nuance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Fails on new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81344" y="2496312"/>
            <a:ext cx="4306824" cy="242316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+mn-lt"/>
              </a:rPr>
              <a:t>LangGraph + LLM</a:t>
            </a:r>
          </a:p>
          <a:p>
            <a:endParaRPr sz="1600" b="1">
              <a:solidFill>
                <a:srgbClr val="FFFFFF"/>
              </a:solidFill>
              <a:latin typeface="+mn-lt"/>
            </a:endParaRPr>
          </a:p>
          <a:p>
            <a:pPr algn="l"/>
            <a:r>
              <a:rPr sz="1400">
                <a:solidFill>
                  <a:srgbClr val="FFFFFF"/>
                </a:solidFill>
                <a:latin typeface="+mn-lt"/>
              </a:rPr>
              <a:t>Dynamic, intelligent routing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LLM understands intent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Handles synonyms &amp; context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Adapts to new queries</a:t>
            </a:r>
          </a:p>
          <a:p>
            <a:pPr lvl="1" algn="l">
              <a:buChar char="•"/>
            </a:pPr>
            <a:r>
              <a:rPr sz="1400">
                <a:solidFill>
                  <a:srgbClr val="FFFFFF"/>
                </a:solidFill>
                <a:latin typeface="+mn-lt"/>
              </a:rPr>
              <a:t>Explainable decisions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81344" y="1554480"/>
          <a:ext cx="5687568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5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Purpose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LLM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Cisco CIRCUIT API (GPT-4o)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Natural language understanding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Orchestration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LangGraph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State machine workflows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Agent Protocol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A2A SDK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Agent communication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Tracing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OpenTelemetry + Jaeger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Distributed observability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Metrics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Prometheus + Grafana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Performance dashboards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Integration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Webex Bot SDK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Webex Teams interface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&amp; Demo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Enterprise-Grade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377440"/>
            <a:ext cx="341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/>
              <a:t>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734056"/>
            <a:ext cx="3413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Jaeger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200400"/>
            <a:ext cx="3413760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Distributed tracing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Waterfall views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Span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2168" y="2377440"/>
            <a:ext cx="341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/>
              <a:t>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2168" y="2734056"/>
            <a:ext cx="3413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Prometheus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2168" y="3200400"/>
            <a:ext cx="3413760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Time-series metrics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Agent latencies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Request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1688" y="2377440"/>
            <a:ext cx="341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/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1688" y="2734056"/>
            <a:ext cx="3413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Grafana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1688" y="3200400"/>
            <a:ext cx="3413760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Live dashboards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Custom panels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Alerting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Observability Shows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pPr>
              <a:buNone/>
            </a:pPr>
            <a:r>
              <a:rPr sz="2000" b="1">
                <a:solidFill>
                  <a:srgbClr val="FFFFFF"/>
                </a:solidFill>
                <a:latin typeface="+mn-lt"/>
              </a:rPr>
              <a:t>Full Request Lifecycle Visibility</a:t>
            </a:r>
          </a:p>
          <a:p>
            <a:pPr>
              <a:buNone/>
            </a:pPr>
            <a:r>
              <a:t>Track every step from user query to response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Which agents were consulted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How long each agent took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What data was passed between agents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Where bottlenecks occur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Error tracking and debugging</a:t>
            </a:r>
          </a:p>
          <a:p>
            <a:pPr lvl="2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Production-ready monitoring</a:t>
            </a:r>
          </a:p>
          <a:p>
            <a:pPr lvl="2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SLA compliance tracking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6459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+mn-lt"/>
              </a:rPr>
              <a:t>Let's see AgentSwarm in action with Webex Teams and Jaeger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  <a:latin typeface="+mn-lt"/>
              </a:rPr>
              <a:t>Live 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Measurable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0784" y="2377440"/>
            <a:ext cx="39044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/>
              <a:t>lightning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84" y="2734056"/>
            <a:ext cx="390448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Faster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00400"/>
            <a:ext cx="3904487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80% reduction in response time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Automated ticket creation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Intelligent escalation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377440"/>
            <a:ext cx="39044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/>
              <a:t>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734056"/>
            <a:ext cx="390448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Cost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00400"/>
            <a:ext cx="3904487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Fewer agent transfers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24/7 availability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Reduced training costs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Demonstrated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81344" y="1554480"/>
          <a:ext cx="568756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5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Scenario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Agents Used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Outcome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Password Reset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KB + CRM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Self-service resolution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Billing Inquiry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CRM + KB + Ticket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Full context response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System Outage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All 4 Agents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Critical escalation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VIP Support</a:t>
                      </a:r>
                    </a:p>
                  </a:txBody>
                  <a:tcPr anchor="ctr"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CRM + Ticket + Escalation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+mn-lt"/>
                        </a:rPr>
                        <a:t>Priority routing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AgentSwarm demonstrates how AI agents can collaborate like a real team, with full transparency through observability.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Cisco PlayTime Hackathon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pPr>
              <a:buNone/>
            </a:pPr>
            <a:r>
              <a:rPr sz="2000" b="1">
                <a:solidFill>
                  <a:srgbClr val="FFFFFF"/>
                </a:solidFill>
                <a:latin typeface="+mn-lt"/>
              </a:rPr>
              <a:t>What Makes AgentSwarm Different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Multi-agent collaboration, not single-model AI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LangGraph for intelligent, explainable routing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A2A protocol for standardized agent communication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Enterprise observability with Jaeger &amp; Grafana</a:t>
            </a:r>
          </a:p>
          <a:p>
            <a:pPr lvl="1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Production-ready architecture</a:t>
            </a:r>
          </a:p>
          <a:p>
            <a:pPr lvl="2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Built on Cisco AGNTCY framework</a:t>
            </a:r>
          </a:p>
          <a:p>
            <a:pPr lvl="2">
              <a:buChar char="•"/>
            </a:pPr>
            <a:r>
              <a:rPr sz="1600">
                <a:solidFill>
                  <a:srgbClr val="FFFFFF"/>
                </a:solidFill>
                <a:latin typeface="+mn-lt"/>
              </a:rPr>
              <a:t>Powered by Cisco CIRCUIT AI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020824"/>
            <a:ext cx="4306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2560320"/>
            <a:ext cx="4306824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FFFFFF"/>
                </a:solidFill>
                <a:latin typeface="+mn-lt"/>
              </a:rPr>
              <a:t>SLIM transport (NATS)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Agent discovery service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More specialist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020824"/>
            <a:ext cx="4306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+mn-lt"/>
              </a:rPr>
              <a:t>Phase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560320"/>
            <a:ext cx="4306824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FFFFFF"/>
                </a:solidFill>
                <a:latin typeface="+mn-lt"/>
              </a:rPr>
              <a:t>Webex Contact Center integration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Real CRM/ticketing systems</a:t>
            </a:r>
          </a:p>
          <a:p>
            <a:r>
              <a:rPr sz="1600">
                <a:solidFill>
                  <a:srgbClr val="FFFFFF"/>
                </a:solidFill>
                <a:latin typeface="+mn-lt"/>
              </a:rPr>
              <a:t>Production deployment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sco Dark 05-21-2025">
  <a:themeElements>
    <a:clrScheme name="Cisco Dark 4-16-2025">
      <a:dk1>
        <a:srgbClr val="FFFFFF"/>
      </a:dk1>
      <a:lt1>
        <a:srgbClr val="07182D"/>
      </a:lt1>
      <a:dk2>
        <a:srgbClr val="B4B9C0"/>
      </a:dk2>
      <a:lt2>
        <a:srgbClr val="525E6C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FFFFFF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92B5B629-F90F-D940-8BD9-37F009318325}" vid="{865D60AB-A046-C340-AAA4-F3AFBDA68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Cisco Dark 05-21-2025</Template>
  <TotalTime>11</TotalTime>
  <Words>761</Words>
  <Application>Microsoft Office PowerPoint</Application>
  <PresentationFormat>Widescreen</PresentationFormat>
  <Paragraphs>220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CiscoSansTT Medium</vt:lpstr>
      <vt:lpstr>Calibri</vt:lpstr>
      <vt:lpstr>Arial</vt:lpstr>
      <vt:lpstr>CiscoSansTT</vt:lpstr>
      <vt:lpstr>Cisco Dark 05-21-2025</vt:lpstr>
      <vt:lpstr>AgentSwarm</vt:lpstr>
      <vt:lpstr>Agenda</vt:lpstr>
      <vt:lpstr>The Problem</vt:lpstr>
      <vt:lpstr>Contact Center Challenges Today</vt:lpstr>
      <vt:lpstr>Why Traditional Chatbots Fail</vt:lpstr>
      <vt:lpstr>The Solution: AgentSwarm</vt:lpstr>
      <vt:lpstr>PowerPoint Presentation</vt:lpstr>
      <vt:lpstr>Multi-Agent Architecture</vt:lpstr>
      <vt:lpstr>Four Specialist Agents</vt:lpstr>
      <vt:lpstr>How Agents Collaborate</vt:lpstr>
      <vt:lpstr>Key Technologies</vt:lpstr>
      <vt:lpstr>AGNTCY Framework (Cisco Outshift)</vt:lpstr>
      <vt:lpstr>LangGraph: State Machine Workflows</vt:lpstr>
      <vt:lpstr>LangGraph vs Traditional Logic</vt:lpstr>
      <vt:lpstr>Technology Stack</vt:lpstr>
      <vt:lpstr>Observability &amp; Demo</vt:lpstr>
      <vt:lpstr>Enterprise-Grade Observability</vt:lpstr>
      <vt:lpstr>What Observability Shows</vt:lpstr>
      <vt:lpstr>PowerPoint Presentation</vt:lpstr>
      <vt:lpstr>Business Impact</vt:lpstr>
      <vt:lpstr>Measurable Benefits</vt:lpstr>
      <vt:lpstr>Use Cases Demonstrated</vt:lpstr>
      <vt:lpstr>AgentSwarm demonstrates how AI agents can collaborate like a real team, with full transparency through observability.</vt:lpstr>
      <vt:lpstr>Key Takeaways</vt:lpstr>
      <vt:lpstr>Future Roadmap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Towning (dtowning)</dc:creator>
  <cp:keywords/>
  <dc:description/>
  <cp:lastModifiedBy>Raghavendra Guvvala (rguvvala)</cp:lastModifiedBy>
  <cp:revision>2</cp:revision>
  <dcterms:created xsi:type="dcterms:W3CDTF">2025-12-19T20:16:50Z</dcterms:created>
  <dcterms:modified xsi:type="dcterms:W3CDTF">2026-01-19T16:42:27Z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2025-05-15T21:49:40Z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219e4d3d-e52c-4661-a7c5-2e875435f34b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10, 3, 0, 1</vt:lpwstr>
  </property>
  <property fmtid="{D5CDD505-2E9C-101B-9397-08002B2CF9AE}" pid="10" name="ClassificationContentMarkingFooterLocations">
    <vt:lpwstr>Cisco Dark 05-12-2025:8</vt:lpwstr>
  </property>
  <property fmtid="{D5CDD505-2E9C-101B-9397-08002B2CF9AE}" pid="11" name="ClassificationContentMarkingFooterText">
    <vt:lpwstr>Cisco Confidential</vt:lpwstr>
  </property>
</Properties>
</file>